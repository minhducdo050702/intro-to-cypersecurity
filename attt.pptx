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25"/>
  </p:notesMasterIdLst>
  <p:handoutMasterIdLst>
    <p:handoutMasterId r:id="rId26"/>
  </p:handoutMasterIdLst>
  <p:sldIdLst>
    <p:sldId id="257" r:id="rId5"/>
    <p:sldId id="282" r:id="rId6"/>
    <p:sldId id="283" r:id="rId7"/>
    <p:sldId id="284" r:id="rId8"/>
    <p:sldId id="292" r:id="rId9"/>
    <p:sldId id="293" r:id="rId10"/>
    <p:sldId id="295" r:id="rId11"/>
    <p:sldId id="294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13" r:id="rId20"/>
    <p:sldId id="309" r:id="rId21"/>
    <p:sldId id="310" r:id="rId22"/>
    <p:sldId id="311" r:id="rId23"/>
    <p:sldId id="31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h Duc Do" initials="MDD" lastIdx="3" clrIdx="0">
    <p:extLst>
      <p:ext uri="{19B8F6BF-5375-455C-9EA6-DF929625EA0E}">
        <p15:presenceInfo xmlns:p15="http://schemas.microsoft.com/office/powerpoint/2012/main" userId="c591a6d5b3c24d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2A99F6-C0B1-05D9-BC2F-7D833AFF0231}" v="1" dt="2023-07-08T13:24:42.723"/>
    <p1510:client id="{2FA15F5F-CFFF-1303-B777-1A958F3BB8FC}" v="170" dt="2023-07-07T17:37:55.800"/>
    <p1510:client id="{F6F605EE-5B2A-4EB2-8A53-9240AD588647}" v="3199" vWet="3201" dt="2023-07-07T17:37:54.6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83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Text&#10;&#10;Description automatically generated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2" y="317038"/>
            <a:ext cx="2576374" cy="936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20D5D-FC08-478F-9A26-B4BF5737CE6C}"/>
              </a:ext>
            </a:extLst>
          </p:cNvPr>
          <p:cNvSpPr txBox="1"/>
          <p:nvPr/>
        </p:nvSpPr>
        <p:spPr>
          <a:xfrm>
            <a:off x="-34650" y="2534500"/>
            <a:ext cx="83109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ỨNG DỤNG CỦA MACHINE LEARNING VÀ THUẬT</a:t>
            </a:r>
            <a:br>
              <a:rPr lang="en-US" sz="24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TOÁN DI TRUYỀN TRONG BẺ KHOÁ SUBSTITUTION CIPHER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4000" dirty="0"/>
            </a:b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4C7CBD-812E-E11F-6087-AD75AAF94F49}"/>
              </a:ext>
            </a:extLst>
          </p:cNvPr>
          <p:cNvSpPr txBox="1"/>
          <p:nvPr/>
        </p:nvSpPr>
        <p:spPr>
          <a:xfrm>
            <a:off x="413012" y="4651514"/>
            <a:ext cx="46493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 	  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Đỗ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Đức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Xuân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5433D5-493C-4308-AA47-86596ECA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350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FFBFF-A8EE-4DBB-BA99-FABB7A96B4AC}"/>
              </a:ext>
            </a:extLst>
          </p:cNvPr>
          <p:cNvSpPr txBox="1"/>
          <p:nvPr/>
        </p:nvSpPr>
        <p:spPr>
          <a:xfrm>
            <a:off x="463826" y="940904"/>
            <a:ext cx="8216348" cy="357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romanUcPeriod"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Nam)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Markov model And Chain Rule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Nguyễn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Nam)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20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Đỗ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Minh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Đức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vi-VN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Ứng dụng của Machine Learning và thuật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toán di truyền trong giải mã Substitution Cipher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Đỗ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Minh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Đức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2000" b="1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vi-V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Phạm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Xuân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vi-VN" sz="2000" dirty="0"/>
            </a:b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684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C266E386-55B3-99DD-0AE2-FC04AA625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</p:spPr>
        <p:txBody>
          <a:bodyPr/>
          <a:lstStyle/>
          <a:p>
            <a:r>
              <a:rPr lang="en-US" sz="3500">
                <a:latin typeface="Arial" panose="020B0604020202020204" pitchFamily="34" charset="0"/>
                <a:cs typeface="Arial" panose="020B0604020202020204" pitchFamily="34" charset="0"/>
              </a:rPr>
              <a:t>I. </a:t>
            </a:r>
            <a:r>
              <a:rPr lang="en-US" sz="350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35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endParaRPr lang="en-US" sz="3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58CEA3-69B3-11E9-9462-4C937E73C150}"/>
              </a:ext>
            </a:extLst>
          </p:cNvPr>
          <p:cNvSpPr txBox="1"/>
          <p:nvPr/>
        </p:nvSpPr>
        <p:spPr>
          <a:xfrm>
            <a:off x="351859" y="1015554"/>
            <a:ext cx="821634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200" b="0" i="0" dirty="0">
                <a:solidFill>
                  <a:srgbClr val="000000"/>
                </a:solidFill>
                <a:effectLst/>
                <a:latin typeface="ArialMT"/>
              </a:rPr>
              <a:t>● Substitution Cipher (hệ mật thay thế) là một phương pháp mã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vi-VN" sz="2200" b="0" i="0" dirty="0">
                <a:solidFill>
                  <a:srgbClr val="000000"/>
                </a:solidFill>
                <a:effectLst/>
                <a:latin typeface="ArialMT"/>
              </a:rPr>
              <a:t>hóa trong đó các “unit” của bản rõ được thay thế bằng bản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vi-VN" sz="2200" b="0" i="0" dirty="0">
                <a:solidFill>
                  <a:srgbClr val="000000"/>
                </a:solidFill>
                <a:effectLst/>
                <a:latin typeface="ArialMT"/>
              </a:rPr>
              <a:t>mã, theo một cách xác định, với sự trợ giúp của khóa. Một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vi-VN" sz="2200" b="0" i="0" dirty="0">
                <a:solidFill>
                  <a:srgbClr val="000000"/>
                </a:solidFill>
                <a:effectLst/>
                <a:latin typeface="ArialMT"/>
              </a:rPr>
              <a:t>“unit” có thể là các chữ cái đơn lẻ, các cặp chữ cái, bộ ba chữ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vi-VN" sz="2200" b="0" i="0" dirty="0">
                <a:solidFill>
                  <a:srgbClr val="000000"/>
                </a:solidFill>
                <a:effectLst/>
                <a:latin typeface="ArialMT"/>
              </a:rPr>
              <a:t>cái, hỗn hợp của những điều trên, v.v. Người nhận giải mã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vi-VN" sz="2200" b="0" i="0" dirty="0">
                <a:solidFill>
                  <a:srgbClr val="000000"/>
                </a:solidFill>
                <a:effectLst/>
                <a:latin typeface="ArialMT"/>
              </a:rPr>
              <a:t>văn bản bằng cách thực hiện quá trình thay thế nghịch đảo để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vi-VN" sz="2200" b="0" i="0" dirty="0">
                <a:solidFill>
                  <a:srgbClr val="000000"/>
                </a:solidFill>
                <a:effectLst/>
                <a:latin typeface="ArialMT"/>
              </a:rPr>
              <a:t>trích xuất thông điệp gốc.</a:t>
            </a:r>
            <a:br>
              <a:rPr lang="vi-VN" sz="2200" b="0" i="0" dirty="0">
                <a:solidFill>
                  <a:srgbClr val="000000"/>
                </a:solidFill>
                <a:effectLst/>
                <a:latin typeface="ArialMT"/>
              </a:rPr>
            </a:br>
            <a:r>
              <a:rPr lang="vi-VN" sz="2200" b="0" i="0" dirty="0">
                <a:solidFill>
                  <a:srgbClr val="000000"/>
                </a:solidFill>
                <a:effectLst/>
                <a:latin typeface="ArialMT"/>
              </a:rPr>
              <a:t>● Tính bảo mật của hệ mật thay thế: mặc dù số lượng hoán vị</a:t>
            </a:r>
            <a:br>
              <a:rPr lang="vi-VN" sz="2200" b="0" i="0" dirty="0">
                <a:solidFill>
                  <a:srgbClr val="000000"/>
                </a:solidFill>
                <a:effectLst/>
                <a:latin typeface="ArialMT"/>
              </a:rPr>
            </a:br>
            <a:r>
              <a:rPr lang="vi-VN" sz="2200" b="0" i="0" dirty="0">
                <a:solidFill>
                  <a:srgbClr val="000000"/>
                </a:solidFill>
                <a:effectLst/>
                <a:latin typeface="ArialMT"/>
              </a:rPr>
              <a:t>rất lớn </a:t>
            </a:r>
            <a:r>
              <a:rPr lang="vi-VN" sz="2200" b="0" i="0" dirty="0">
                <a:solidFill>
                  <a:srgbClr val="202122"/>
                </a:solidFill>
                <a:effectLst/>
                <a:latin typeface="ArialMT"/>
              </a:rPr>
              <a:t>(26! ≈ 288.4), hệ mật không thực sự mạnh và có thể bẻ</a:t>
            </a:r>
            <a:r>
              <a:rPr lang="en-US" sz="2200" b="0" i="0" dirty="0">
                <a:solidFill>
                  <a:srgbClr val="202122"/>
                </a:solidFill>
                <a:effectLst/>
                <a:latin typeface="ArialMT"/>
              </a:rPr>
              <a:t> </a:t>
            </a:r>
            <a:r>
              <a:rPr lang="vi-VN" sz="2200" b="0" i="0" dirty="0">
                <a:solidFill>
                  <a:srgbClr val="202122"/>
                </a:solidFill>
                <a:effectLst/>
                <a:latin typeface="ArialMT"/>
              </a:rPr>
              <a:t>khoá dễ dàng bằng cách phân tích tần suất xuất hiện của các</a:t>
            </a:r>
            <a:r>
              <a:rPr lang="en-US" sz="2200" b="0" i="0" dirty="0">
                <a:solidFill>
                  <a:srgbClr val="202122"/>
                </a:solidFill>
                <a:effectLst/>
                <a:latin typeface="ArialMT"/>
              </a:rPr>
              <a:t> </a:t>
            </a:r>
            <a:r>
              <a:rPr lang="vi-VN" sz="2200" b="0" i="0" dirty="0">
                <a:solidFill>
                  <a:srgbClr val="202122"/>
                </a:solidFill>
                <a:effectLst/>
                <a:latin typeface="ArialMT"/>
              </a:rPr>
              <a:t>chữ cái</a:t>
            </a:r>
            <a:r>
              <a:rPr lang="vi-VN" sz="2200" dirty="0"/>
              <a:t> </a:t>
            </a:r>
            <a:br>
              <a:rPr lang="vi-VN" dirty="0"/>
            </a:b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687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</p:spPr>
        <p:txBody>
          <a:bodyPr/>
          <a:lstStyle/>
          <a:p>
            <a:r>
              <a:rPr lang="en-US" sz="3500">
                <a:latin typeface="Arial" panose="020B0604020202020204" pitchFamily="34" charset="0"/>
                <a:cs typeface="Arial" panose="020B0604020202020204" pitchFamily="34" charset="0"/>
              </a:rPr>
              <a:t>I. </a:t>
            </a:r>
            <a:r>
              <a:rPr lang="en-US" sz="350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35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endParaRPr lang="en-US" sz="3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752E2D-A216-72D8-64CD-B64F33F30B8F}"/>
              </a:ext>
            </a:extLst>
          </p:cNvPr>
          <p:cNvSpPr txBox="1"/>
          <p:nvPr/>
        </p:nvSpPr>
        <p:spPr>
          <a:xfrm>
            <a:off x="2034334" y="5684409"/>
            <a:ext cx="5075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CBE04-5FA4-4A11-A0D8-02EF1C844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51" y="804258"/>
            <a:ext cx="7362739" cy="48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3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II. MARKOV MODEL VS CHAIN RULE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E221FE-5E79-DAC7-AD6A-A92CB46F58B1}"/>
              </a:ext>
            </a:extLst>
          </p:cNvPr>
          <p:cNvSpPr txBox="1"/>
          <p:nvPr/>
        </p:nvSpPr>
        <p:spPr>
          <a:xfrm>
            <a:off x="463826" y="804258"/>
            <a:ext cx="8216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 rule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78E842-E95C-10F5-96E1-E0BE11756A46}"/>
              </a:ext>
            </a:extLst>
          </p:cNvPr>
          <p:cNvSpPr txBox="1"/>
          <p:nvPr/>
        </p:nvSpPr>
        <p:spPr>
          <a:xfrm>
            <a:off x="463826" y="1364633"/>
            <a:ext cx="82163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Trong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lý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thuyết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xác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suất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, Chain Rule (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quy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tắc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chuỗi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)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cho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phép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tính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toán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bất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kỳ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phần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tử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nào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trong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phân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phối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chung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của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một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tập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hợp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các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biến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ngẫu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nhiên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chỉ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sử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dụng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xác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suất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điều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ArialMT"/>
              </a:rPr>
              <a:t>kiện</a:t>
            </a:r>
            <a:endParaRPr lang="en-US" sz="2800" b="0" i="0" dirty="0">
              <a:solidFill>
                <a:srgbClr val="000000"/>
              </a:solidFill>
              <a:effectLst/>
              <a:latin typeface="ArialMT"/>
            </a:endParaRPr>
          </a:p>
          <a:p>
            <a:endParaRPr lang="en-US" sz="2800" dirty="0">
              <a:solidFill>
                <a:srgbClr val="000000"/>
              </a:solidFill>
              <a:latin typeface="ArialM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b="0" i="0" dirty="0">
                <a:solidFill>
                  <a:srgbClr val="000000"/>
                </a:solidFill>
                <a:effectLst/>
                <a:latin typeface="ArialMT"/>
              </a:rPr>
              <a:t>Quy tắc này rất hữu ích trong việc nghiên cứu Bayes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vi-VN" sz="2800" b="0" i="0" dirty="0">
                <a:solidFill>
                  <a:srgbClr val="000000"/>
                </a:solidFill>
                <a:effectLst/>
                <a:latin typeface="ArialMT"/>
              </a:rPr>
              <a:t>Networks - mô tả phân phối xác suất dưới dạng xác suất có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MT"/>
              </a:rPr>
              <a:t> </a:t>
            </a:r>
            <a:r>
              <a:rPr lang="vi-VN" sz="2800" b="0" i="0" dirty="0">
                <a:solidFill>
                  <a:srgbClr val="000000"/>
                </a:solidFill>
                <a:effectLst/>
                <a:latin typeface="ArialMT"/>
              </a:rPr>
              <a:t>điều kiện.</a:t>
            </a:r>
            <a:r>
              <a:rPr lang="vi-VN" sz="2800" dirty="0"/>
              <a:t> </a:t>
            </a:r>
            <a:br>
              <a:rPr lang="vi-VN" sz="2400" dirty="0"/>
            </a:br>
            <a:r>
              <a:rPr lang="en-US" sz="2400" dirty="0"/>
              <a:t> </a:t>
            </a:r>
            <a:br>
              <a:rPr lang="en-US" sz="2400" dirty="0"/>
            </a:b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072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II. MARKOV MODEL VS CHAIN RULE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E221FE-5E79-DAC7-AD6A-A92CB46F58B1}"/>
              </a:ext>
            </a:extLst>
          </p:cNvPr>
          <p:cNvSpPr txBox="1"/>
          <p:nvPr/>
        </p:nvSpPr>
        <p:spPr>
          <a:xfrm>
            <a:off x="463826" y="804258"/>
            <a:ext cx="8216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 Rule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C7BC39-38AD-C09A-EF72-A4D12207C142}"/>
              </a:ext>
            </a:extLst>
          </p:cNvPr>
          <p:cNvSpPr txBox="1"/>
          <p:nvPr/>
        </p:nvSpPr>
        <p:spPr>
          <a:xfrm>
            <a:off x="219218" y="5238133"/>
            <a:ext cx="89247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7FD17D-0F51-44BF-8CC9-3A679D978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26" y="1312444"/>
            <a:ext cx="8628064" cy="384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57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II. MARKOV MODEL VS CHAIN RULE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483A2-C1B0-5505-C868-E9E36E626248}"/>
              </a:ext>
            </a:extLst>
          </p:cNvPr>
          <p:cNvSpPr txBox="1"/>
          <p:nvPr/>
        </p:nvSpPr>
        <p:spPr>
          <a:xfrm>
            <a:off x="-1031015" y="728202"/>
            <a:ext cx="6165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Markov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FCB862-061E-D4A3-92A0-BB07DFA6208F}"/>
              </a:ext>
            </a:extLst>
          </p:cNvPr>
          <p:cNvSpPr txBox="1"/>
          <p:nvPr/>
        </p:nvSpPr>
        <p:spPr>
          <a:xfrm>
            <a:off x="576192" y="2032417"/>
            <a:ext cx="8017301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0" i="0" dirty="0">
                <a:solidFill>
                  <a:srgbClr val="000000"/>
                </a:solidFill>
                <a:effectLst/>
              </a:rPr>
              <a:t>● Trong lý thuyết xác suất, mô hình Markov là một mô hình</a:t>
            </a:r>
            <a:br>
              <a:rPr lang="vi-VN" sz="2000" b="0" i="0" dirty="0">
                <a:solidFill>
                  <a:srgbClr val="000000"/>
                </a:solidFill>
                <a:effectLst/>
              </a:rPr>
            </a:br>
            <a:r>
              <a:rPr lang="vi-VN" sz="2000" b="0" i="0" dirty="0">
                <a:solidFill>
                  <a:srgbClr val="000000"/>
                </a:solidFill>
                <a:effectLst/>
              </a:rPr>
              <a:t>ngẫu nhiên mô tả 1 tập các sự kiện có thể 1 cách tuần tự khi</a:t>
            </a:r>
            <a:br>
              <a:rPr lang="vi-VN" sz="2000" b="0" i="0" dirty="0">
                <a:solidFill>
                  <a:srgbClr val="000000"/>
                </a:solidFill>
                <a:effectLst/>
              </a:rPr>
            </a:br>
            <a:r>
              <a:rPr lang="vi-VN" sz="2000" b="0" i="0" dirty="0">
                <a:solidFill>
                  <a:srgbClr val="000000"/>
                </a:solidFill>
                <a:effectLst/>
              </a:rPr>
              <a:t>mà xác xuất xảy ra của trạng thái tiếp theo chỉ phụ thuộc vào</a:t>
            </a:r>
            <a:br>
              <a:rPr lang="vi-VN" sz="2000" b="0" i="0" dirty="0">
                <a:solidFill>
                  <a:srgbClr val="000000"/>
                </a:solidFill>
                <a:effectLst/>
              </a:rPr>
            </a:br>
            <a:r>
              <a:rPr lang="vi-VN" sz="2000" b="0" i="0" dirty="0">
                <a:solidFill>
                  <a:srgbClr val="000000"/>
                </a:solidFill>
                <a:effectLst/>
              </a:rPr>
              <a:t>trạng thái trước đó. (nghĩa là nó thoả mãn Markov Property)</a:t>
            </a:r>
            <a:endParaRPr lang="en-US" sz="2000" b="0" i="0" dirty="0">
              <a:solidFill>
                <a:srgbClr val="000000"/>
              </a:solidFill>
              <a:effectLst/>
            </a:endParaRPr>
          </a:p>
          <a:p>
            <a:br>
              <a:rPr lang="vi-VN" sz="2000" b="0" i="0" dirty="0">
                <a:solidFill>
                  <a:srgbClr val="000000"/>
                </a:solidFill>
                <a:effectLst/>
              </a:rPr>
            </a:br>
            <a:r>
              <a:rPr lang="vi-VN" sz="2000" b="0" i="0" dirty="0">
                <a:solidFill>
                  <a:srgbClr val="000000"/>
                </a:solidFill>
                <a:effectLst/>
              </a:rPr>
              <a:t>● </a:t>
            </a:r>
            <a:r>
              <a:rPr lang="vi-VN" sz="2000" b="1" i="0" dirty="0">
                <a:solidFill>
                  <a:srgbClr val="000000"/>
                </a:solidFill>
                <a:effectLst/>
              </a:rPr>
              <a:t>Markov Assumption</a:t>
            </a:r>
            <a:r>
              <a:rPr lang="vi-VN" sz="2000" b="0" i="0" dirty="0">
                <a:solidFill>
                  <a:srgbClr val="000000"/>
                </a:solidFill>
                <a:effectLst/>
              </a:rPr>
              <a:t>: cung cấp nền tảng cho việc mô hình</a:t>
            </a:r>
            <a:br>
              <a:rPr lang="vi-VN" sz="2000" b="0" i="0" dirty="0">
                <a:solidFill>
                  <a:srgbClr val="000000"/>
                </a:solidFill>
                <a:effectLst/>
              </a:rPr>
            </a:br>
            <a:r>
              <a:rPr lang="vi-VN" sz="2000" b="0" i="0" dirty="0">
                <a:solidFill>
                  <a:srgbClr val="000000"/>
                </a:solidFill>
                <a:effectLst/>
              </a:rPr>
              <a:t>hoá việc ra quyết định trong các tình huống mà kết quả là một</a:t>
            </a:r>
            <a:br>
              <a:rPr lang="vi-VN" sz="2000" b="0" i="0" dirty="0">
                <a:solidFill>
                  <a:srgbClr val="000000"/>
                </a:solidFill>
                <a:effectLst/>
              </a:rPr>
            </a:br>
            <a:r>
              <a:rPr lang="vi-VN" sz="2000" b="0" i="0" dirty="0">
                <a:solidFill>
                  <a:srgbClr val="000000"/>
                </a:solidFill>
                <a:effectLst/>
              </a:rPr>
              <a:t>phần ngẫu nhiên và 1 phần dưới sự điều khiển của người ra</a:t>
            </a:r>
            <a:br>
              <a:rPr lang="vi-VN" sz="2000" b="0" i="0" dirty="0">
                <a:solidFill>
                  <a:srgbClr val="000000"/>
                </a:solidFill>
                <a:effectLst/>
              </a:rPr>
            </a:br>
            <a:r>
              <a:rPr lang="vi-VN" sz="2000" b="0" i="0" dirty="0">
                <a:solidFill>
                  <a:srgbClr val="000000"/>
                </a:solidFill>
                <a:effectLst/>
              </a:rPr>
              <a:t>quyết định. Ở đây, chúng ta sử dụng Markov Assumption để</a:t>
            </a:r>
            <a:br>
              <a:rPr lang="vi-VN" sz="2000" b="0" i="0" dirty="0">
                <a:solidFill>
                  <a:srgbClr val="000000"/>
                </a:solidFill>
                <a:effectLst/>
              </a:rPr>
            </a:br>
            <a:r>
              <a:rPr lang="vi-VN" sz="2000" b="0" i="0" dirty="0">
                <a:solidFill>
                  <a:srgbClr val="000000"/>
                </a:solidFill>
                <a:effectLst/>
              </a:rPr>
              <a:t>tính toán xác suất xuất hiện của 1 từ</a:t>
            </a:r>
            <a:br>
              <a:rPr lang="vi-VN" sz="2400" dirty="0"/>
            </a:b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03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II. MARKOV MODEL VS CHAIN RULE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6A0675-978B-4E7F-B6C3-AF3E23AF8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2" y="1716832"/>
            <a:ext cx="9082547" cy="34476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9D5E5A3-301C-4BB7-8023-378E7F883383}"/>
              </a:ext>
            </a:extLst>
          </p:cNvPr>
          <p:cNvSpPr txBox="1"/>
          <p:nvPr/>
        </p:nvSpPr>
        <p:spPr>
          <a:xfrm>
            <a:off x="2155372" y="5309187"/>
            <a:ext cx="4802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n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phụ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n-1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AAC184-E4B1-454F-A0F6-633ADABF9A66}"/>
              </a:ext>
            </a:extLst>
          </p:cNvPr>
          <p:cNvSpPr txBox="1"/>
          <p:nvPr/>
        </p:nvSpPr>
        <p:spPr>
          <a:xfrm>
            <a:off x="345233" y="864836"/>
            <a:ext cx="67273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Markov model</a:t>
            </a:r>
          </a:p>
        </p:txBody>
      </p:sp>
    </p:spTree>
    <p:extLst>
      <p:ext uri="{BB962C8B-B14F-4D97-AF65-F5344CB8AC3E}">
        <p14:creationId xmlns:p14="http://schemas.microsoft.com/office/powerpoint/2010/main" val="1184092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III.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3367E-B771-4F18-A3A1-106D6D9D58F8}"/>
              </a:ext>
            </a:extLst>
          </p:cNvPr>
          <p:cNvSpPr txBox="1"/>
          <p:nvPr/>
        </p:nvSpPr>
        <p:spPr>
          <a:xfrm>
            <a:off x="235077" y="1065835"/>
            <a:ext cx="651276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32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10659-59AD-4963-9A32-56B80D913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8212"/>
            <a:ext cx="9144000" cy="36015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051C88-7243-4E5A-8933-516015B8A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92" y="4595701"/>
            <a:ext cx="7259215" cy="66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24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III.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3367E-B771-4F18-A3A1-106D6D9D58F8}"/>
              </a:ext>
            </a:extLst>
          </p:cNvPr>
          <p:cNvSpPr txBox="1"/>
          <p:nvPr/>
        </p:nvSpPr>
        <p:spPr>
          <a:xfrm>
            <a:off x="354616" y="972529"/>
            <a:ext cx="651276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2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Lược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63431-422C-4A11-B8A0-340A462CA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16" y="1563693"/>
            <a:ext cx="7987004" cy="473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97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78613"/>
            <a:ext cx="8673846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III.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3367E-B771-4F18-A3A1-106D6D9D58F8}"/>
              </a:ext>
            </a:extLst>
          </p:cNvPr>
          <p:cNvSpPr txBox="1"/>
          <p:nvPr/>
        </p:nvSpPr>
        <p:spPr>
          <a:xfrm>
            <a:off x="354616" y="972529"/>
            <a:ext cx="651276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32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55320-E1B7-4073-A03F-1847A27C9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16" y="1576839"/>
            <a:ext cx="7847045" cy="446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905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976" y="78613"/>
            <a:ext cx="10245013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IV. Machine learning vs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066D1-E962-4CC6-941F-A1EA5F3E8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055"/>
            <a:ext cx="9144000" cy="504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471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976" y="78613"/>
            <a:ext cx="10245013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IV. Machine learning vs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BE5D9-623F-49A7-A814-C91ACBBC5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934"/>
            <a:ext cx="9144000" cy="534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30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976" y="78613"/>
            <a:ext cx="10245013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IV. Machine learning vs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F4967D-867A-4D30-BB53-02DD891E3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49" y="941932"/>
            <a:ext cx="8005665" cy="521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99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976" y="78613"/>
            <a:ext cx="10245013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V.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7AA926-931F-49F2-B2F0-307F6E1AE39E}"/>
              </a:ext>
            </a:extLst>
          </p:cNvPr>
          <p:cNvSpPr txBox="1"/>
          <p:nvPr/>
        </p:nvSpPr>
        <p:spPr>
          <a:xfrm>
            <a:off x="597159" y="982257"/>
            <a:ext cx="4553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Khởi</a:t>
            </a:r>
            <a:r>
              <a:rPr lang="en-US" sz="3200" b="1" dirty="0"/>
              <a:t> </a:t>
            </a:r>
            <a:r>
              <a:rPr lang="en-US" sz="3200" b="1" dirty="0" err="1"/>
              <a:t>tạo</a:t>
            </a:r>
            <a:r>
              <a:rPr lang="en-US" sz="3200" b="1" dirty="0"/>
              <a:t> </a:t>
            </a:r>
            <a:r>
              <a:rPr lang="en-US" sz="3200" dirty="0"/>
              <a:t>text ban </a:t>
            </a:r>
            <a:r>
              <a:rPr lang="en-US" sz="3200" dirty="0" err="1"/>
              <a:t>đầu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8D934-3A9B-4034-B7AD-2815E947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3853" y="2275785"/>
            <a:ext cx="10982086" cy="294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71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976" y="78613"/>
            <a:ext cx="10245013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V.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7AA926-931F-49F2-B2F0-307F6E1AE39E}"/>
              </a:ext>
            </a:extLst>
          </p:cNvPr>
          <p:cNvSpPr txBox="1"/>
          <p:nvPr/>
        </p:nvSpPr>
        <p:spPr>
          <a:xfrm>
            <a:off x="597159" y="982257"/>
            <a:ext cx="4553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Encrypt </a:t>
            </a:r>
            <a:r>
              <a:rPr lang="en-US" sz="3200" dirty="0"/>
              <a:t>text ban </a:t>
            </a:r>
            <a:r>
              <a:rPr lang="en-US" sz="3200" dirty="0" err="1"/>
              <a:t>đầu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38062-FC9C-4A35-9952-10E422B69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0" y="1567032"/>
            <a:ext cx="8397259" cy="470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16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976" y="78613"/>
            <a:ext cx="10245013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V.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1336CD-6FF1-489B-966A-8AA692A72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9517" y="2159148"/>
            <a:ext cx="10245013" cy="35145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DD9B0A-C73D-4142-B786-019D151C5F63}"/>
              </a:ext>
            </a:extLst>
          </p:cNvPr>
          <p:cNvSpPr txBox="1"/>
          <p:nvPr/>
        </p:nvSpPr>
        <p:spPr>
          <a:xfrm>
            <a:off x="447869" y="1267017"/>
            <a:ext cx="5337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Encode text </a:t>
            </a:r>
            <a:r>
              <a:rPr lang="en-US" sz="4000" dirty="0" err="1"/>
              <a:t>sinh</a:t>
            </a:r>
            <a:r>
              <a:rPr lang="en-US" sz="4000" dirty="0"/>
              <a:t> ra</a:t>
            </a:r>
          </a:p>
        </p:txBody>
      </p:sp>
    </p:spTree>
    <p:extLst>
      <p:ext uri="{BB962C8B-B14F-4D97-AF65-F5344CB8AC3E}">
        <p14:creationId xmlns:p14="http://schemas.microsoft.com/office/powerpoint/2010/main" val="2793727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976" y="78613"/>
            <a:ext cx="10245013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V.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46048E-5C50-4679-A180-630F4AF90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4083"/>
            <a:ext cx="9144000" cy="45353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B070E2-5572-4C9B-8E4F-1987278C4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36" y="4863617"/>
            <a:ext cx="8058928" cy="146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39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BA3E0FDB-29A1-07AD-AA7E-07B92145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976" y="78613"/>
            <a:ext cx="10245013" cy="451739"/>
          </a:xfrm>
        </p:spPr>
        <p:txBody>
          <a:bodyPr/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V.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16CD43-E04B-494B-8843-A027113AA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6549"/>
            <a:ext cx="9144000" cy="40073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A4347F-CC59-4490-AB20-E80B0FF519F7}"/>
              </a:ext>
            </a:extLst>
          </p:cNvPr>
          <p:cNvSpPr txBox="1"/>
          <p:nvPr/>
        </p:nvSpPr>
        <p:spPr>
          <a:xfrm>
            <a:off x="569167" y="1024120"/>
            <a:ext cx="5840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Text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b="1" dirty="0" err="1"/>
              <a:t>giải</a:t>
            </a:r>
            <a:r>
              <a:rPr lang="en-US" sz="3200" b="1" dirty="0"/>
              <a:t> </a:t>
            </a:r>
            <a:r>
              <a:rPr lang="en-US" sz="3200" b="1" dirty="0" err="1"/>
              <a:t>mã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089663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CBA001-850B-4966-8CE6-E183D0DE5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2C449E-CBE8-4ABE-888F-D0588580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10E807-8897-4B48-B5C0-CB2167830B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sz="2000" b="0" i="0" dirty="0">
                <a:effectLst/>
                <a:latin typeface="Arial" panose="020B0604020202020204" pitchFamily="34" charset="0"/>
              </a:rPr>
              <a:t>Trong </a:t>
            </a:r>
            <a:r>
              <a:rPr lang="en-US" sz="2000" b="0" i="0" dirty="0">
                <a:effectLst/>
                <a:latin typeface="Arial" panose="020B0604020202020204" pitchFamily="34" charset="0"/>
              </a:rPr>
              <a:t>project</a:t>
            </a:r>
            <a:r>
              <a:rPr lang="vi-VN" sz="2000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sz="2000" dirty="0">
                <a:latin typeface="Arial" panose="020B0604020202020204" pitchFamily="34" charset="0"/>
              </a:rPr>
              <a:t>c</a:t>
            </a:r>
            <a:r>
              <a:rPr lang="vi-VN" sz="2000" b="0" i="0" dirty="0">
                <a:effectLst/>
                <a:latin typeface="Arial" panose="020B0604020202020204" pitchFamily="34" charset="0"/>
              </a:rPr>
              <a:t>húng tôi đã đề xuất sử dụng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học máy và giải thuật di truyền nhằm giải quyết bài toán trên.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Kết quả nghiên cứu cho thấy phương pháp đưa ra được kết quả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đúng với thời gian ngắn.</a:t>
            </a:r>
            <a:endParaRPr lang="en-US" sz="2000" b="0" i="0" dirty="0">
              <a:effectLst/>
              <a:latin typeface="Arial" panose="020B0604020202020204" pitchFamily="34" charset="0"/>
            </a:endParaRPr>
          </a:p>
          <a:p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Tuy nhiên, còn một số hạn chế và thách thức cần được xem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xét. Ví dụ, thách thức có thể gặp phải trong việc áp dụng phương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pháp với bảng chữ cái ngoài Latinh. Đồng thời, việc mở rộng có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thể được thực hiện để nâng cao hiệu quả và khả năng áp dụng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của thuật toán trong tương lai.</a:t>
            </a:r>
            <a:endParaRPr lang="en-US" sz="2000" b="0" i="0" dirty="0">
              <a:effectLst/>
              <a:latin typeface="Arial" panose="020B0604020202020204" pitchFamily="34" charset="0"/>
            </a:endParaRPr>
          </a:p>
          <a:p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Tổng kết lại, bài báo cáo này đã đưa ra một một cách tiếp cận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trong việc giải hệ mật mã một bảng thế, đồng thời đánh giá hiệu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quả và công trình đóng góp của nó. Kết quả nghiên cứu này góp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phần nâng cao hiểu biết và thúc đẩy sự phát triển trong lĩnh vực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này. Hy vọng rằng bài báo cáo của chúng tôi sẽ truyền đạt được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những thông tin quan trọng và mang lại giá trị cho cộng đồng</a:t>
            </a:r>
            <a:br>
              <a:rPr lang="vi-VN" sz="2000" dirty="0"/>
            </a:br>
            <a:r>
              <a:rPr lang="vi-VN" sz="2000" b="0" i="0" dirty="0">
                <a:effectLst/>
                <a:latin typeface="Arial" panose="020B0604020202020204" pitchFamily="34" charset="0"/>
              </a:rPr>
              <a:t>nghiên cứu và các nhà quản lý trong an toàn thông tin.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02318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DCA99E06EF1E4686D55E5D38B35F2E" ma:contentTypeVersion="3" ma:contentTypeDescription="Create a new document." ma:contentTypeScope="" ma:versionID="cb487d42d878db1b37d1b72a243697d5">
  <xsd:schema xmlns:xsd="http://www.w3.org/2001/XMLSchema" xmlns:xs="http://www.w3.org/2001/XMLSchema" xmlns:p="http://schemas.microsoft.com/office/2006/metadata/properties" xmlns:ns2="7d526a88-71b4-405d-86fd-9b9f081c900b" targetNamespace="http://schemas.microsoft.com/office/2006/metadata/properties" ma:root="true" ma:fieldsID="e67804e423612214235b3c743358917c" ns2:_="">
    <xsd:import namespace="7d526a88-71b4-405d-86fd-9b9f081c90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526a88-71b4-405d-86fd-9b9f081c90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4686BB-DB5C-4CA8-830B-1276F0CC60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BF5587-5339-444C-AAEF-1125EEC687DB}">
  <ds:schemaRefs>
    <ds:schemaRef ds:uri="518d4b73-4755-4f7b-adce-700f84c36b3a"/>
    <ds:schemaRef ds:uri="9b3f2b1c-b569-4ae8-ae62-019454d7d58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70712DD-E1E4-46ED-BE8E-842BECC48FB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852</Words>
  <Application>Microsoft Office PowerPoint</Application>
  <PresentationFormat>On-screen Show (4:3)</PresentationFormat>
  <Paragraphs>72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ArialMT</vt:lpstr>
      <vt:lpstr>Calibri</vt:lpstr>
      <vt:lpstr>Lato</vt:lpstr>
      <vt:lpstr>Times New Roman</vt:lpstr>
      <vt:lpstr>Office Theme</vt:lpstr>
      <vt:lpstr>PowerPoint Presentation</vt:lpstr>
      <vt:lpstr>Nội dung</vt:lpstr>
      <vt:lpstr>I. Giới thiệu</vt:lpstr>
      <vt:lpstr>I. Giới thiệu</vt:lpstr>
      <vt:lpstr>II. MARKOV MODEL VS CHAIN RULE</vt:lpstr>
      <vt:lpstr>II. MARKOV MODEL VS CHAIN RULE</vt:lpstr>
      <vt:lpstr>II. MARKOV MODEL VS CHAIN RULE</vt:lpstr>
      <vt:lpstr>II. MARKOV MODEL VS CHAIN RULE</vt:lpstr>
      <vt:lpstr>III. Thuật toán di truyền</vt:lpstr>
      <vt:lpstr>III. Thuật toán di truyền</vt:lpstr>
      <vt:lpstr>III. Thuật toán di truyền</vt:lpstr>
      <vt:lpstr>IV. Machine learning vs thuật toán di truyền </vt:lpstr>
      <vt:lpstr>IV. Machine learning vs thuật toán di truyền </vt:lpstr>
      <vt:lpstr>IV. Machine learning vs thuật toán di truyền </vt:lpstr>
      <vt:lpstr>V. Thực nghiệm</vt:lpstr>
      <vt:lpstr>V. Thực nghiệm</vt:lpstr>
      <vt:lpstr>V. Thực nghiệm</vt:lpstr>
      <vt:lpstr>V. Thực nghiệm</vt:lpstr>
      <vt:lpstr>V. Thực nghiệm</vt:lpstr>
      <vt:lpstr>Tổng kết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Pham Xuan Truong 20200655</cp:lastModifiedBy>
  <cp:revision>8</cp:revision>
  <dcterms:created xsi:type="dcterms:W3CDTF">2021-05-28T04:32:29Z</dcterms:created>
  <dcterms:modified xsi:type="dcterms:W3CDTF">2023-07-20T06:13:52Z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0x01010065DCA99E06EF1E4686D55E5D38B35F2E</vt:lpwstr>
  </property>
</Properties>
</file>